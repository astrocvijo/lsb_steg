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4572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>
                <a:solidFill>
                  <a:srgbClr val="242A30"/>
                </a:solidFill>
                <a:latin typeface="Georgia"/>
              </a:rPr>
              <a:t>Steganografija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6118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7B1E2B"/>
                </a:solidFill>
                <a:latin typeface="Calibri"/>
              </a:rPr>
              <a:t>LSB steganografija - skrivanje poruka u slikama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87078"/>
                </a:solidFill>
                <a:latin typeface="Calibri"/>
              </a:rPr>
              <a:t>Informaciona bezbednost  •  implementacija, primeri i kriptoanaliza  •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54864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87078"/>
                </a:solidFill>
                <a:latin typeface="Courier New"/>
              </a:rPr>
              <a:t>01001100 01010011 01000010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UVOD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Šta je steganografija?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Steganografija je veština i nauka skrivanja samog postojanja poruke.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Reč potiče od grčkog steganos (skriveno) + graphein (pisati) = „skriveno pisanje".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Poruka se ugrađuje u običan, bezazlen nosilac (sliku, audio, tekst, video).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Posmatraču nosilac izgleda potpuno normalno - ne zna ni da poruka postoji.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Cilj: tajnost komunikacije bez privlačenja pažnje.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Za razliku od kriptografije, ne skrivamo sadržaj - skrivamo činjenicu da se komunicira.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RAZLIKA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Steganografija vs. kriptografija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Kriptografija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Steganografija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Šta skriva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sadržaj poruke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postojanje poruke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Rezultat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vidljiv šifrat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naizgled običan nosilac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Sumnja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jasno da nešto kriješ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niko ne sumnja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Najjače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kombinovano: prvo šifruj, pa sakrij šifrat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7B1E2B"/>
                </a:solidFill>
                <a:latin typeface="Calibri"/>
              </a:rPr>
              <a:t>U praksi se kombinuju: poruka se prvo šifruje, a zatim se šifrat sakrije u sliku - napadač mora prvo da otkrije da poruka postoji, pa tek onda da je dešifruje.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KONTEKST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Kratka istorija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Antika - Herodot: poruka istetovirana na obrijanoj glavi roba, sakrivena izraslom kosom.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Stari Rim - nevidljivo mastilo (limunov sok, mleko) koje se pojavi tek zagrevanjem.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II svetski rat - mikrotačke: cela stranica teksta smanjena na tačku veličine zrna.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Danas - digitalna steganografija: podaci skriveni u bitovima slika, zvuka i video fajlova.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Digitalni vodeni žig (watermark) za zaštitu autorskih prava je najčešća legalna primena.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PRIMENE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Gde se koristi?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1">
                <a:solidFill>
                  <a:srgbClr val="7B1E2B"/>
                </a:solidFill>
                <a:latin typeface="Calibri"/>
              </a:rPr>
              <a:t>•  Legalno / korisno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Digitalni vodeni žig - dokaz vlasništva nad fotografijama, muzikom, filmom.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Označavanje izvora (fingerprinting) radi otkrivanja curenja dokumenata.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Integritet i autentičnost medija (skriveni potpis u sadržaju).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Diskretna komunikacija novinara i aktivista u represivnim sredinama.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1">
                <a:solidFill>
                  <a:srgbClr val="B0843A"/>
                </a:solidFill>
                <a:latin typeface="Calibri"/>
              </a:rPr>
              <a:t>•  Zloupotrebe (zato je važno razumeti)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Malver krije komande/podatke u slikama (C2 kanali, eksfiltracija).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Prikrivanje nedozvoljenog sadržaja - izazov za digitalnu forenziku.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OSNOVE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Kako slika čuva piksele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Slika je mreža piksela; svaki piksel ima 3 kanala - R, G, B.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Svaki kanal je 1 bajt = 8 bitova, vrednost 0-255.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Primer: R = 154 → binarno 1001101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687078"/>
                </a:solidFill>
                <a:latin typeface="Calibri"/>
              </a:rPr>
              <a:t>Bajt jednog kanala (npr. crvena = 154):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1005840" cy="1005840"/>
          </a:xfrm>
          <a:prstGeom prst="rect">
            <a:avLst/>
          </a:prstGeom>
          <a:solidFill>
            <a:srgbClr val="EFEADF"/>
          </a:solidFill>
          <a:ln w="19050">
            <a:solidFill>
              <a:srgbClr val="68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42A30"/>
                </a:solidFill>
                <a:latin typeface="Courier New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128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3566160"/>
            <a:ext cx="1005840" cy="1005840"/>
          </a:xfrm>
          <a:prstGeom prst="rect">
            <a:avLst/>
          </a:prstGeom>
          <a:solidFill>
            <a:srgbClr val="EFEADF"/>
          </a:solidFill>
          <a:ln w="19050">
            <a:solidFill>
              <a:srgbClr val="68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70332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42A30"/>
                </a:solidFill>
                <a:latin typeface="Courier New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617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566160"/>
            <a:ext cx="1005840" cy="1005840"/>
          </a:xfrm>
          <a:prstGeom prst="rect">
            <a:avLst/>
          </a:prstGeom>
          <a:solidFill>
            <a:srgbClr val="EFEADF"/>
          </a:solidFill>
          <a:ln w="19050">
            <a:solidFill>
              <a:srgbClr val="68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70332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42A30"/>
                </a:solidFill>
                <a:latin typeface="Courier New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617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3566160"/>
            <a:ext cx="1005840" cy="1005840"/>
          </a:xfrm>
          <a:prstGeom prst="rect">
            <a:avLst/>
          </a:prstGeom>
          <a:solidFill>
            <a:srgbClr val="EFEADF"/>
          </a:solidFill>
          <a:ln w="19050">
            <a:solidFill>
              <a:srgbClr val="68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370332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42A30"/>
                </a:solidFill>
                <a:latin typeface="Courier New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617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566160"/>
            <a:ext cx="1005840" cy="1005840"/>
          </a:xfrm>
          <a:prstGeom prst="rect">
            <a:avLst/>
          </a:prstGeom>
          <a:solidFill>
            <a:srgbClr val="EFEADF"/>
          </a:solidFill>
          <a:ln w="19050">
            <a:solidFill>
              <a:srgbClr val="68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70332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42A30"/>
                </a:solidFill>
                <a:latin typeface="Courier New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617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566160"/>
            <a:ext cx="1005840" cy="1005840"/>
          </a:xfrm>
          <a:prstGeom prst="rect">
            <a:avLst/>
          </a:prstGeom>
          <a:solidFill>
            <a:srgbClr val="EFEADF"/>
          </a:solidFill>
          <a:ln w="19050">
            <a:solidFill>
              <a:srgbClr val="68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70332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42A30"/>
                </a:solidFill>
                <a:latin typeface="Courier New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17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3566160"/>
            <a:ext cx="1005840" cy="1005840"/>
          </a:xfrm>
          <a:prstGeom prst="rect">
            <a:avLst/>
          </a:prstGeom>
          <a:solidFill>
            <a:srgbClr val="EFEADF"/>
          </a:solidFill>
          <a:ln w="19050">
            <a:solidFill>
              <a:srgbClr val="68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370332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42A30"/>
                </a:solidFill>
                <a:latin typeface="Courier New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4617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3566160"/>
            <a:ext cx="1005840" cy="1005840"/>
          </a:xfrm>
          <a:prstGeom prst="rect">
            <a:avLst/>
          </a:prstGeom>
          <a:solidFill>
            <a:srgbClr val="B0843A"/>
          </a:solidFill>
          <a:ln w="19050">
            <a:solidFill>
              <a:srgbClr val="7B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70332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42A30"/>
                </a:solidFill>
                <a:latin typeface="Courier New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61772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0749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87078"/>
                </a:solidFill>
                <a:latin typeface="Calibri"/>
              </a:rPr>
              <a:t>MSB - najveća težina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5074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B0843A"/>
                </a:solidFill>
                <a:latin typeface="Calibri"/>
              </a:rPr>
              <a:t>LSB - najniži bit (težina 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PRINCIP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Ideja LSB metode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Promena najnižeg bita menja vrednost kanala najviše za ±1.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7B1E2B"/>
                </a:solidFill>
                <a:latin typeface="Calibri"/>
              </a:rPr>
              <a:t>•  154 (1001101 0) → 155 (1001101 1):  razlika za ljudsko oko nevidljiva.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U taj najniži bit svakog kanala upišemo po jedan bit naše poruke.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Slika 512×384 ima 512·384·3 = 589.824 kanala → skoro toliko bitova kapaciteta.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Poruka → UTF-8 bajtovi → niz bitova → raspoređeni po LSB-ovima piksela.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IMPLEMENTACIJA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Algoritam - enkodiranje (skrivanje)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1.  Poruku pretvorimo u UTF-8 bajtove, pa u niz bitova (MSB-first).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2.  Dodamo 32-bitni header sa dužinom poruke (u bitovima) - da bismo pri čitanju znali kad da stanemo.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3.  Pikseli se čitaju redom R, G, B, R, G, B, …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4.  U svaki kanal upišemo jedan bit:  (kanal &amp; 0xFE) | bit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687078"/>
                </a:solidFill>
                <a:latin typeface="Calibri"/>
              </a:rPr>
              <a:t>-      &amp; 0xFE obriše stari LSB, | bit postavi novi.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5.  Sačuvamo sliku u formatu bez gubitaka (PNG) - JPEG bi uništio LSB-ove!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87078"/>
                </a:solidFill>
                <a:latin typeface="Courier New"/>
              </a:rPr>
              <a:t>Implementacija: funkcija encode() u lsb_steg.py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IMPLEMENTACIJA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Algoritam - dekodiranje (čitanje)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1.  Pročitamo najniži bit svakog kanala redom: lsb = kanal &amp; 1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687078"/>
                </a:solidFill>
                <a:latin typeface="Calibri"/>
              </a:rPr>
              <a:t>-      Dobijamo nazad isti niz bitova koji smo upisali.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2.  Prvih 32 bita → dužina poruke N (u bitovima).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3.  Sledećih N bitova → bitovi poruke.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4.  Bitove spakujemo nazad u bajtove i dekodiramo iz UTF-8 → tekst.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Roundtrip provera: dekodirana poruka == originalna  ✓ (svi primeri prolaze).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87078"/>
                </a:solidFill>
                <a:latin typeface="Courier New"/>
              </a:rPr>
              <a:t>Implementacija: funkcije decode() i decode_text() u lsb_steg.py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KAPACITET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Koliko podataka stane?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solidFill>
            <a:srgbClr val="EFEADF"/>
          </a:solidFill>
          <a:ln w="19050">
            <a:solidFill>
              <a:srgbClr val="7B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7B1E2B"/>
                </a:solidFill>
                <a:latin typeface="Courier New"/>
              </a:rPr>
              <a:t>Kapacitet (1 bit po kanalu)  =  širina × visina × 3 − 32 bita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Za sliku 512 × 384:  512 · 384 · 3 − 32  =  589.792 bita.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589.792 / 8  ≈  73.724 bajta  →  oko 73.724 ASCII karaktera.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7B1E2B"/>
                </a:solidFill>
                <a:latin typeface="Calibri"/>
              </a:rPr>
              <a:t>-  To je tekst od ~40 stranica - sakriven u jednoj sličici!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Što je slika veća (više piksela), to više teksta može da primi.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DEMONSTRACIJA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Primer - original vs. stego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ver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4754880" cy="3566160"/>
          </a:xfrm>
          <a:prstGeom prst="rect">
            <a:avLst/>
          </a:prstGeom>
        </p:spPr>
      </p:pic>
      <p:pic>
        <p:nvPicPr>
          <p:cNvPr id="7" name="Picture 6" descr="photo_short_st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37360"/>
            <a:ext cx="475488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49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87078"/>
                </a:solidFill>
                <a:latin typeface="Calibri"/>
              </a:rPr>
              <a:t>COVER (originalna slika, bez poruke)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7B1E2B"/>
                </a:solidFill>
                <a:latin typeface="Calibri"/>
              </a:rPr>
              <a:t>STEGO (sadrži skrivenu poruku)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87078"/>
                </a:solidFill>
                <a:latin typeface="Calibri"/>
              </a:rPr>
              <a:t>Skrivena poruka: „Tajna poruka: sastanak u 21h."  -  PSNR 84,5 dB, promenjeno samo 135 od 589.824 kanala (0,023%). Razlika je golim okom nevidljiva.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DEMONSTRACIJA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Gde su tačno promene?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ff_ampl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240" y="1737360"/>
            <a:ext cx="451104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52120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87078"/>
                </a:solidFill>
                <a:latin typeface="Calibri"/>
              </a:rPr>
              <a:t>Uvećana razlika cover − stego (bele tačke = promenjeni pikseli)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87078"/>
                </a:solidFill>
                <a:latin typeface="Calibri"/>
              </a:rPr>
              <a:t>Stvarna promena je ±1 i nevidljiva; ovde je pojačana 255× da bismo je uopšte videli. Poruka zauzima samo početak slike - zato su promene skoncentrisane gore levo.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DEMONSTRACIJA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Rezultati na više slika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828800"/>
          <a:ext cx="10058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Slika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Poruka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Promenjeno kanala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PSNR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gradient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29 znakova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138  (0,023%)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84,4 dB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photo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29 znakova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135  (0,023%)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84,5 dB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checker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801 znak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3.269  (0,55%)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70,7 dB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801 znak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3.198  (0,54%)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70,8 dB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42A30"/>
                          </a:solidFill>
                          <a:latin typeface="Calibri"/>
                        </a:rPr>
                        <a:t>photo (bin.)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1024 bajta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4.084  (0,69%)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42A30"/>
                          </a:solidFill>
                          <a:latin typeface="Calibri"/>
                        </a:rPr>
                        <a:t>69,7 dB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7B1E2B"/>
                </a:solidFill>
                <a:latin typeface="Calibri"/>
              </a:rPr>
              <a:t>PSNR &gt; 50 dB znači da čovek ne vidi razliku. Maksimalna razlika po kanalu je uvek ≤ 1. Svi primeri se dekodiraju nazad bez ijedne greške.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DEMONSTRACIJA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Primer na pravoj fotografiji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l_photo1_cover_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5" y="1691640"/>
            <a:ext cx="4897530" cy="3291840"/>
          </a:xfrm>
          <a:prstGeom prst="rect">
            <a:avLst/>
          </a:prstGeom>
        </p:spPr>
      </p:pic>
      <p:pic>
        <p:nvPicPr>
          <p:cNvPr id="7" name="Picture 6" descr="real_photo1_stego_pre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55" y="1691640"/>
            <a:ext cx="489753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87078"/>
                </a:solidFill>
                <a:latin typeface="Calibri"/>
              </a:rPr>
              <a:t>COVER (image1.jpg, 5861 x 3941 px)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7B1E2B"/>
                </a:solidFill>
                <a:latin typeface="Calibri"/>
              </a:rPr>
              <a:t>STEGO (ista slika, sa porukom)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698480" cy="1051560"/>
          </a:xfrm>
          <a:prstGeom prst="rect">
            <a:avLst/>
          </a:prstGeom>
          <a:solidFill>
            <a:srgbClr val="EFEADF"/>
          </a:solidFill>
          <a:ln w="19050">
            <a:solidFill>
              <a:srgbClr val="7B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532120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Kapacitet ~8,5 MB teksta. Upisana poruka od 293 znaka promenila je samo 1.186 od 69.294.603 kanala (0,0017%). PSNR = 95,8 dB. Prava fotografija je idealan nosilac: prirodne teksture savrseno skrivaju promenu od +/-1.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NAPAD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Kriptoanaliza - kako doći do poruke?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Pitanje: imamo sliku za koju sumnjamo da krije poruku. Kako je izvući?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Tri komplementarna pristupa koja ćemo pokazati: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1.  Blind decode - pročitamo LSB-ove i pokušamo da rekonstruišemo poruku.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2.  Vizualizacija LSB ravni - okom uočimo region sa porukom.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700" b="0">
                <a:solidFill>
                  <a:srgbClr val="687078"/>
                </a:solidFill>
                <a:latin typeface="Calibri"/>
              </a:rPr>
              <a:t>-  3.  Chi-square test - statistički detektujemo da je ugrađivanje uopšte vršeno.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42A30"/>
                </a:solidFill>
                <a:latin typeface="Calibri"/>
              </a:rPr>
              <a:t>•  Implementacija: cryptanalysis.py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KRIPTOANALIZA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Napad 1 - Blind decode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Pretpostavka: napadač zna (ili nasluti) da je korišćena LSB shema.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Pročita najniži bit svakog kanala redom R, G, B, …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Prvih 32 bita protumači kao dužinu, ostatak kao poruku.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solidFill>
            <a:srgbClr val="EFEADF"/>
          </a:solidFill>
          <a:ln w="19050">
            <a:solidFill>
              <a:srgbClr val="B0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7B1E2B"/>
                </a:solidFill>
                <a:latin typeface="Courier New"/>
              </a:rPr>
              <a:t>Rezultat: izvučena poruka = „Tajna poruka: sastanak u 21h."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87078"/>
                </a:solidFill>
                <a:latin typeface="Calibri"/>
              </a:rPr>
              <a:t>Pouka: čista LSB shema nema ključ - ako napadač zna format, poruka je odmah čitljiva. Zato se u praksi poruka prvo šifruje, pa tek onda sakrije.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KRIPTOANALIZA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Napad 2 - vizualizacija LSB ravni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ver_photo_LS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737360"/>
            <a:ext cx="4632960" cy="3474720"/>
          </a:xfrm>
          <a:prstGeom prst="rect">
            <a:avLst/>
          </a:prstGeom>
        </p:spPr>
      </p:pic>
      <p:pic>
        <p:nvPicPr>
          <p:cNvPr id="7" name="Picture 6" descr="photo_short_stego_LS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0" y="1737360"/>
            <a:ext cx="463296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57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87078"/>
                </a:solidFill>
                <a:latin typeface="Calibri"/>
              </a:rPr>
              <a:t>LSB ravan ČISTE slike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7B1E2B"/>
                </a:solidFill>
                <a:latin typeface="Calibri"/>
              </a:rPr>
              <a:t>LSB ravan STEGO slike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87078"/>
                </a:solidFill>
                <a:latin typeface="Calibri"/>
              </a:rPr>
              <a:t>Prikažemo samo najniže bitove kao crno-belu sliku. Kod stego slike je gornji deo vidno haotičniji - tu su upisani (gotovo slučajni) bitovi poruke.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KRIPTOANALIZA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Napad 3 - chi-square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42A30"/>
                </a:solidFill>
                <a:latin typeface="Calibri"/>
              </a:rPr>
              <a:t>•  Statistički test koji detektuje LSB ugrađivanje BEZ čitanja poruke.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42A30"/>
                </a:solidFill>
                <a:latin typeface="Calibri"/>
              </a:rPr>
              <a:t>•  LSB ugrađivanje izjednačava parove vrednosti (2k) i (2k+1) u histogramu.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7B1E2B"/>
                </a:solidFill>
                <a:latin typeface="Calibri"/>
              </a:rPr>
              <a:t>-  χ²/df ≈ 1  →  parovi izjednačeni  →  verovatno ima skrivene poruke.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B0843A"/>
                </a:solidFill>
                <a:latin typeface="Calibri"/>
              </a:rPr>
              <a:t>-  χ²/df &gt;&gt; 1  →  parovi nesimetrični  →  slika je verovatno čista.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42A30"/>
                </a:solidFill>
                <a:latin typeface="Calibri"/>
              </a:rPr>
              <a:t>•  Napomena: test je najosetljiviji kada je slika gusto popunjena porukom.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87078"/>
                </a:solidFill>
                <a:latin typeface="Calibri"/>
              </a:rPr>
              <a:t>Drugi alat forenzičara: poređenje sa originalom (ako postoji), analiza šuma, i specijalizovani steg-detektori (npr. RS analiza).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GRANICA VIDLJIVOSTI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Koliko karaktera maksimalno stane?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868680"/>
          </a:xfrm>
          <a:prstGeom prst="rect">
            <a:avLst/>
          </a:prstGeom>
          <a:solidFill>
            <a:srgbClr val="EFEADF"/>
          </a:solidFill>
          <a:ln w="19050">
            <a:solidFill>
              <a:srgbClr val="7B1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7B1E2B"/>
                </a:solidFill>
                <a:latin typeface="Courier New"/>
              </a:rPr>
              <a:t>maks. karaktera (1-LSB)  =  (Š × V × 3) / 8  −  4 bajta (header)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9748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Slika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Dimenzije (px)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Račun (Š·V·3/8 − 4)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Maks. karaktera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42A30"/>
                          </a:solidFill>
                          <a:latin typeface="Calibri"/>
                        </a:rPr>
                        <a:t>sintetička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512 × 384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589.824/8 − 4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73.724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42A30"/>
                          </a:solidFill>
                          <a:latin typeface="Calibri"/>
                        </a:rPr>
                        <a:t>image1.jpg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5861 × 3941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69.294.603/8 − 4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8.661.821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42A30"/>
                          </a:solidFill>
                          <a:latin typeface="Calibri"/>
                        </a:rPr>
                        <a:t>image2.jpg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3999 × 5998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71.958.006/8 − 4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8.994.746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892040"/>
            <a:ext cx="10698480" cy="1417320"/>
          </a:xfrm>
          <a:prstGeom prst="rect">
            <a:avLst/>
          </a:prstGeom>
          <a:solidFill>
            <a:srgbClr val="EFEADF"/>
          </a:solidFill>
          <a:ln w="19050">
            <a:solidFill>
              <a:srgbClr val="B08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104241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Pri 1-LSB čak i 100% popunjenosti PSNR ostaje ~51 dB (&gt; 50 dB), pa slika i dalje izgleda nepromenjeno. Zato je MAKSIMUM pre pojave vidljivih tragova jednak punom kapacitetu 1-LSB sheme. Vidljive promene nastaju tek kada pređemo na drugi bit (n ≥ 3), o čemu govori sledeći slajd.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GRANICA VIDLJIVOSTI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Prelazak na više bitova (n-LSB)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9164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 (bitova/kanal)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Kapacitet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Maks. razlika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PSNR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Vidljivo?</a:t>
                      </a:r>
                    </a:p>
                  </a:txBody>
                  <a:tcPr>
                    <a:solidFill>
                      <a:srgbClr val="7B1E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42A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73.724 B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51,1 dB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ne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42A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147.452 B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45,1 dB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ne / jedva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42A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221.180 B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37,9 dB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počinje</a:t>
                      </a:r>
                    </a:p>
                  </a:txBody>
                  <a:tcPr>
                    <a:solidFill>
                      <a:srgbClr val="EFEAD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42A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294.908 B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34,3 dB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42A30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42A30"/>
                </a:solidFill>
                <a:latin typeface="Calibri"/>
              </a:rPr>
              <a:t>Svaki dodatni bit udvostruči kapacitet, ali smanji PSNR za ~6 dB i poveća maks. razliku po kanalu (1 → 3 → 7 → 14).</a:t>
            </a:r>
          </a:p>
        </p:txBody>
      </p:sp>
      <p:pic>
        <p:nvPicPr>
          <p:cNvPr id="8" name="Picture 7" descr="cover_photo_n1_st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029200"/>
            <a:ext cx="18288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4465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n=1</a:t>
            </a:r>
          </a:p>
        </p:txBody>
      </p:sp>
      <p:pic>
        <p:nvPicPr>
          <p:cNvPr id="10" name="Picture 9" descr="cover_photo_n2_st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5029200"/>
            <a:ext cx="18288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0" y="64465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n=2</a:t>
            </a:r>
          </a:p>
        </p:txBody>
      </p:sp>
      <p:pic>
        <p:nvPicPr>
          <p:cNvPr id="12" name="Picture 11" descr="cover_photo_n3_ste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029200"/>
            <a:ext cx="1828800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64465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n=3</a:t>
            </a:r>
          </a:p>
        </p:txBody>
      </p:sp>
      <p:pic>
        <p:nvPicPr>
          <p:cNvPr id="14" name="Picture 13" descr="cover_photo_n4_ste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5029200"/>
            <a:ext cx="18288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0" y="64465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87078"/>
                </a:solidFill>
                <a:latin typeface="Calibri"/>
              </a:rPr>
              <a:t>n=4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7B1E2B"/>
                </a:solidFill>
                <a:latin typeface="Calibri"/>
              </a:rPr>
              <a:t>SAŽETAK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242A30"/>
                </a:solidFill>
                <a:latin typeface="Georgia"/>
              </a:rPr>
              <a:t>Zaključak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926080" cy="41148"/>
          </a:xfrm>
          <a:prstGeom prst="rect">
            <a:avLst/>
          </a:prstGeom>
          <a:solidFill>
            <a:srgbClr val="B0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Steganografija skriva postojanje poruke; LSB je najjednostavnija digitalna metoda.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Implementirali smo encode/decode i pokazali primere - promene su nevidljive (PSNR &gt;&gt; 50 dB).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Kapacitet 1-LSB za 512×384: ~73.724 karaktera, i pri 100% popunjenosti ostaje nevidljiv.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Vidljivost nastupa tek prelaskom na 3-4 bita po kanalu (PSNR pada ispod ~38 dB).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Kriptoanaliza: blind decode + LSB ravan + chi-square otkrivaju i izvlače skrivenu poruku.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42A30"/>
                </a:solidFill>
                <a:latin typeface="Calibri"/>
              </a:rPr>
              <a:t>•  Slabost čistog LSB-a: nema ključa i ne preživljava JPEG → u praksi prvo šifrovati poruku.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